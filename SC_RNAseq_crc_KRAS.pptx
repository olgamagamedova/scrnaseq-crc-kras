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verage" panose="020B0604020202020204" charset="0"/>
      <p:regular r:id="rId15"/>
    </p:embeddedFont>
    <p:embeddedFont>
      <p:font typeface="Outfit" panose="020B0604020202020204" charset="0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747775"/>
          </p15:clr>
        </p15:guide>
        <p15:guide id="2" pos="46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65" y="57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Magamedova" userId="d87ab5e936237083" providerId="LiveId" clId="{073D0D4E-6447-47F7-B46F-EABAA551B1EB}"/>
    <pc:docChg chg="modSld">
      <pc:chgData name="Olga Magamedova" userId="d87ab5e936237083" providerId="LiveId" clId="{073D0D4E-6447-47F7-B46F-EABAA551B1EB}" dt="2026-05-09T18:27:35.145" v="3" actId="1076"/>
      <pc:docMkLst>
        <pc:docMk/>
      </pc:docMkLst>
      <pc:sldChg chg="modSp mod">
        <pc:chgData name="Olga Magamedova" userId="d87ab5e936237083" providerId="LiveId" clId="{073D0D4E-6447-47F7-B46F-EABAA551B1EB}" dt="2026-05-09T18:27:01.517" v="1" actId="1076"/>
        <pc:sldMkLst>
          <pc:docMk/>
          <pc:sldMk cId="0" sldId="263"/>
        </pc:sldMkLst>
        <pc:picChg chg="mod">
          <ac:chgData name="Olga Magamedova" userId="d87ab5e936237083" providerId="LiveId" clId="{073D0D4E-6447-47F7-B46F-EABAA551B1EB}" dt="2026-05-09T18:27:01.517" v="1" actId="1076"/>
          <ac:picMkLst>
            <pc:docMk/>
            <pc:sldMk cId="0" sldId="263"/>
            <ac:picMk id="143" creationId="{00000000-0000-0000-0000-000000000000}"/>
          </ac:picMkLst>
        </pc:picChg>
      </pc:sldChg>
      <pc:sldChg chg="modSp mod">
        <pc:chgData name="Olga Magamedova" userId="d87ab5e936237083" providerId="LiveId" clId="{073D0D4E-6447-47F7-B46F-EABAA551B1EB}" dt="2026-05-09T18:27:35.145" v="3" actId="1076"/>
        <pc:sldMkLst>
          <pc:docMk/>
          <pc:sldMk cId="0" sldId="264"/>
        </pc:sldMkLst>
        <pc:picChg chg="mod">
          <ac:chgData name="Olga Magamedova" userId="d87ab5e936237083" providerId="LiveId" clId="{073D0D4E-6447-47F7-B46F-EABAA551B1EB}" dt="2026-05-09T18:27:35.145" v="3" actId="1076"/>
          <ac:picMkLst>
            <pc:docMk/>
            <pc:sldMk cId="0" sldId="264"/>
            <ac:picMk id="15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e728c4a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ee728c4af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dee728c4af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e728c4a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ee728c4af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dee728c4af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e728c4a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ee728c4af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dee728c4af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ee728c4a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ee728c4af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dee728c4af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ee728c4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ee728c4af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dee728c4af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ee728c4af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ee728c4af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dee728c4af_0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doi.org/10.3390/cancers1703042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hyperlink" Target="https://doi.org/10.1101/gad.352081.124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oi.org/10.1016/j.ctrv.2022.102433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057400" y="1447800"/>
            <a:ext cx="10770000" cy="28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6FF3"/>
              </a:buClr>
              <a:buSzPts val="4450"/>
              <a:buFont typeface="Outfit"/>
              <a:buNone/>
            </a:pPr>
            <a:r>
              <a:rPr lang="en-US" sz="4400" b="1">
                <a:latin typeface="Average"/>
                <a:ea typeface="Average"/>
                <a:cs typeface="Average"/>
                <a:sym typeface="Average"/>
              </a:rPr>
              <a:t>Изучение гетерогенности опухолевых клеток колоректального рака в зависимости от статуса мутации гена KRAS </a:t>
            </a:r>
            <a:endParaRPr sz="7450" b="1" i="0" u="none" strike="noStrike" cap="none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940681" y="6553200"/>
            <a:ext cx="6592500" cy="13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BM Plex Sans"/>
              <a:buNone/>
            </a:pPr>
            <a:r>
              <a:rPr lang="en-US" sz="1750"/>
              <a:t>Магамедова Ольга</a:t>
            </a:r>
            <a:endParaRPr sz="1750"/>
          </a:p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BM Plex Sans"/>
              <a:buNone/>
            </a:pPr>
            <a:r>
              <a:rPr lang="en-US" sz="1750"/>
              <a:t>Выполнено в рамках курса “Анализ NGS-данных” </a:t>
            </a:r>
            <a:r>
              <a:rPr lang="en-US" sz="1750">
                <a:solidFill>
                  <a:schemeClr val="dk1"/>
                </a:solidFill>
              </a:rPr>
              <a:t>BLASTIM</a:t>
            </a:r>
            <a:endParaRPr sz="175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BM Plex Sans"/>
              <a:buNone/>
            </a:pPr>
            <a:r>
              <a:rPr lang="en-US" sz="1750"/>
              <a:t>Москва, апрель 2026 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52400" y="457200"/>
            <a:ext cx="8593200" cy="12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F6FF3"/>
              </a:buClr>
              <a:buSzPts val="3550"/>
              <a:buFont typeface="Outfit"/>
              <a:buNone/>
            </a:pPr>
            <a:r>
              <a:rPr lang="en-US" sz="355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Р</a:t>
            </a:r>
            <a:r>
              <a:rPr lang="en-US" sz="355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оль мутации гена KRAS </a:t>
            </a:r>
            <a:r>
              <a:rPr lang="en-US" sz="355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при колоректальном раке</a:t>
            </a:r>
            <a:endParaRPr sz="355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68400" y="1905000"/>
            <a:ext cx="72516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50"/>
              <a:buFont typeface="IBM Plex Sans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Мутации гена KRAS встречаются в 30–50% случаев колоректального рака (CRC) и ассоциированы с более агрессивным течением заболевания, повышенным риском метастазирования и худшей выживаемостью по сравнению с KRAS-диким типом опухоли (OS 21 мес при KRASmut vs 26.9 мес при wtKRAS).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50"/>
              <a:buFont typeface="IBM Plex San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50"/>
              <a:buFont typeface="IBM Plex Sans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Мутации в гене KRAS при колоректальном раке приводят к устойчивой активации критически важных нижележащих сигнальных путей, в том числе путей MAPK/ERK и PI3K/AKT.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50"/>
              <a:buFont typeface="IBM Plex Sans"/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3725" y="149899"/>
            <a:ext cx="5183275" cy="19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10600" y="4217950"/>
            <a:ext cx="5546998" cy="18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86800" y="1872334"/>
            <a:ext cx="5791201" cy="2318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600" y="4038599"/>
            <a:ext cx="4267200" cy="35814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62100" y="7620000"/>
            <a:ext cx="481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05EA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Cancers (Basel)</a:t>
            </a:r>
            <a:r>
              <a:rPr lang="en-US" sz="125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2025 Jan 27;17(3):428. doi: </a:t>
            </a:r>
            <a:r>
              <a:rPr lang="en-US" sz="1250" u="sng">
                <a:solidFill>
                  <a:srgbClr val="005EA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10.3390/cancers17030428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10600" y="6322775"/>
            <a:ext cx="5614824" cy="16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2000" y="4167475"/>
            <a:ext cx="3810000" cy="35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4696200" y="7431600"/>
            <a:ext cx="3762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05EA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Genes Dev</a:t>
            </a:r>
            <a:r>
              <a:rPr lang="en-US" sz="125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2025 Jan 1;39(1-2):132–162. doi: </a:t>
            </a:r>
            <a:r>
              <a:rPr lang="en-US" sz="1250" u="sng">
                <a:solidFill>
                  <a:srgbClr val="005EA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10.1101/gad.352081.124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03950" y="379750"/>
            <a:ext cx="11964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Роль мутации гена KRAS при колоректальном раке</a:t>
            </a:r>
            <a:endParaRPr sz="35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33400" y="1600200"/>
            <a:ext cx="5943600" cy="22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Наличие KRAS-мутации в опухоли обуславливает резистентность к анти-EGFR терапии (цетуксимаб, панитумумаб). Конститутивная активация сигнального пути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RAS–RAF–MEK–ERK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делает опухолевые клетки независимыми от активации EGFR. В результате блокада EGFR моноклональными антителами не подавляет пролиферацию опухоли.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600" y="4066399"/>
            <a:ext cx="3810000" cy="149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3810001"/>
            <a:ext cx="4114800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8915400" y="1371600"/>
            <a:ext cx="5486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KRAS-мутантные опухоли колоректального рака характеризуются агрессивным фенотипом, сопровождающимся активацией EMT, ангиогенеза и иммуносупрессией, а также выраженным ремоделированием микроокружения.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304800" y="7086600"/>
            <a:ext cx="4419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FDFD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Zhou Y, Kuang Y, Wang C, Yu Y, Pan L, Hu X. Impact of KRAS mutation on the tumor microenvironment in colorectal cancer. </a:t>
            </a:r>
            <a:r>
              <a:rPr lang="en-US" sz="1000" i="1">
                <a:solidFill>
                  <a:schemeClr val="dk1"/>
                </a:solidFill>
                <a:highlight>
                  <a:srgbClr val="FDFD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 J Biol Sci</a:t>
            </a:r>
            <a:r>
              <a:rPr lang="en-US" sz="1000">
                <a:solidFill>
                  <a:schemeClr val="dk1"/>
                </a:solidFill>
                <a:highlight>
                  <a:srgbClr val="FDFD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2024; 20(5):1947-1964. doi:10.7150/ijbs.88779. 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20200" y="3048000"/>
            <a:ext cx="48768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9448800" y="7200000"/>
            <a:ext cx="45240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Janssen J, Medema J, Gootjes E ...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Mutant RAS and the tumor microenvironment as dual therapeutic targets for advanced colorectal cancer</a:t>
            </a:r>
            <a:endParaRPr sz="1000" b="1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Cancer Treatment Reviews, 2022;</a:t>
            </a:r>
            <a:r>
              <a:rPr lang="en-US" sz="1000">
                <a:solidFill>
                  <a:schemeClr val="dk1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DOI: </a:t>
            </a:r>
            <a:r>
              <a:rPr lang="en-US" sz="1000">
                <a:solidFill>
                  <a:srgbClr val="005789"/>
                </a:solidFill>
                <a:highlight>
                  <a:srgbClr val="F5F5F5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10.1016/j.ctrv.2022.102433 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-1561025" y="-81800"/>
            <a:ext cx="93231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3F6FF3"/>
              </a:buClr>
              <a:buSzPts val="3500"/>
              <a:buFont typeface="Outfit"/>
              <a:buNone/>
            </a:pPr>
            <a:r>
              <a:rPr lang="en-US"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А</a:t>
            </a:r>
            <a:r>
              <a:rPr lang="en-US"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ннотация клеточных типов</a:t>
            </a:r>
            <a:endParaRPr sz="3500" b="1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92" name="Google Shape;92;p16" title="dotplot__dotplot_anno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75" y="4021775"/>
            <a:ext cx="13428050" cy="420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umap_umap_annot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875" y="696200"/>
            <a:ext cx="5350001" cy="342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10600" y="1441300"/>
            <a:ext cx="3023876" cy="25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4075" y="1333700"/>
            <a:ext cx="3068851" cy="26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11811000" y="1766700"/>
            <a:ext cx="2438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Аннотация выполнена при помощи автоматической аннотации (Celltypist) и ручной уточненной аннотации на основании маркерных генов.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3537000" y="500078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F6FF3"/>
              </a:buClr>
              <a:buSzPts val="3550"/>
              <a:buFont typeface="Outfit"/>
              <a:buNone/>
            </a:pPr>
            <a:r>
              <a:rPr lang="en-US" sz="19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Сравнение долей клеток: KRAS‑mut vs KRAS‑wt</a:t>
            </a:r>
            <a:endParaRPr sz="195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1806000" y="166725"/>
            <a:ext cx="110184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latin typeface="Outfit"/>
                <a:ea typeface="Outfit"/>
                <a:cs typeface="Outfit"/>
                <a:sym typeface="Outfit"/>
              </a:rPr>
              <a:t>Композиционный анализ. scSCODA</a:t>
            </a:r>
            <a:endParaRPr sz="3500" b="1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04" name="Google Shape;104;p17" title="sccoda_boxplot_mKRAS_vs_wtKR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3625"/>
            <a:ext cx="5001426" cy="423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Cell type proportion_ mKRAS vs wtKR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2124" y="1286403"/>
            <a:ext cx="5573797" cy="6699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sccoda_effects_bar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5623" y="1591325"/>
            <a:ext cx="4156777" cy="27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457200" y="5486400"/>
            <a:ext cx="71628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В mKRAS опухолях наблюдается перераспределение долей клеток: увеличивается вклад отдельных стромальных(myCAF, перициты) и иммунных (TAM) популяций, отражающее ремоделирование микроокружения опухоли. Для wtKRAS характерно большее количество собственно опухолевых клеток.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6124500" y="313800"/>
            <a:ext cx="24099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F6FF3"/>
              </a:buClr>
              <a:buSzPts val="3550"/>
              <a:buFont typeface="Outfit"/>
              <a:buNone/>
            </a:pPr>
            <a:r>
              <a:rPr lang="en-US" sz="355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DEG </a:t>
            </a:r>
            <a:endParaRPr sz="3550" b="1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19201"/>
            <a:ext cx="6019804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400" y="1219200"/>
            <a:ext cx="6019801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3031150" y="136400"/>
            <a:ext cx="8866200" cy="8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Outfit"/>
                <a:ea typeface="Outfit"/>
                <a:cs typeface="Outfit"/>
                <a:sym typeface="Outfit"/>
              </a:rPr>
              <a:t>  </a:t>
            </a:r>
            <a:r>
              <a:rPr lang="en-US" sz="2900" b="1">
                <a:latin typeface="Outfit"/>
                <a:ea typeface="Outfit"/>
                <a:cs typeface="Outfit"/>
                <a:sym typeface="Outfit"/>
              </a:rPr>
              <a:t>Гетерогенность опухолевых клеток.Hotspot</a:t>
            </a:r>
            <a:endParaRPr sz="2900" b="1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2" name="Google Shape;122;p19" title="hotspot_embedd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378" y="2865237"/>
            <a:ext cx="2138761" cy="237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enrichment_module4_barplot.png"/>
          <p:cNvPicPr preferRelativeResize="0"/>
          <p:nvPr/>
        </p:nvPicPr>
        <p:blipFill rotWithShape="1">
          <a:blip r:embed="rId4">
            <a:alphaModFix/>
          </a:blip>
          <a:srcRect l="5696" t="-11025" b="15404"/>
          <a:stretch/>
        </p:blipFill>
        <p:spPr>
          <a:xfrm>
            <a:off x="7148950" y="4956399"/>
            <a:ext cx="3365924" cy="289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 title="enrichment_module3_bar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5962" y="5269175"/>
            <a:ext cx="3197877" cy="289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 title="enrichment_module2_barpl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" y="5269175"/>
            <a:ext cx="3365949" cy="289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 title="enrichment_module1_barplo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39125" y="5244025"/>
            <a:ext cx="3613548" cy="266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01400" y="2590800"/>
            <a:ext cx="3293850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3150" y="2743200"/>
            <a:ext cx="3122050" cy="25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38600" y="2743200"/>
            <a:ext cx="2968249" cy="24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96200" y="2665050"/>
            <a:ext cx="2971801" cy="25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609600" y="2286000"/>
            <a:ext cx="21387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Модуль 2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4191000" y="2286000"/>
            <a:ext cx="21387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Модуль 3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7995900" y="2286000"/>
            <a:ext cx="21387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Модуль 4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11653500" y="2286000"/>
            <a:ext cx="21387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Модуль 1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685800" y="914400"/>
            <a:ext cx="13335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 анализе гетерогенности опухолевых клеток были выявлены 4 генных модуля: №2(</a:t>
            </a:r>
            <a:r>
              <a:rPr lang="en-US" b="1"/>
              <a:t>пролиферативный</a:t>
            </a:r>
            <a:r>
              <a:rPr lang="en-US"/>
              <a:t>), №3(</a:t>
            </a:r>
            <a:r>
              <a:rPr lang="en-US" b="1"/>
              <a:t>муцинозный</a:t>
            </a:r>
            <a:r>
              <a:rPr lang="en-US"/>
              <a:t>), №4(</a:t>
            </a:r>
            <a:r>
              <a:rPr lang="en-US" b="1"/>
              <a:t>иммунный</a:t>
            </a:r>
            <a:r>
              <a:rPr lang="en-US"/>
              <a:t>) и №1(маленькая группа клеток с активными нейрональными и хемосенсорными путями, вероятно </a:t>
            </a:r>
            <a:r>
              <a:rPr lang="en-US" b="1"/>
              <a:t>tuft cell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9372600" y="685800"/>
            <a:ext cx="518550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6FF3"/>
              </a:buClr>
              <a:buSzPts val="3550"/>
              <a:buFont typeface="Outfit"/>
              <a:buNone/>
            </a:pPr>
            <a:r>
              <a:rPr lang="en-US" sz="2600" b="1">
                <a:latin typeface="Outfit"/>
                <a:ea typeface="Outfit"/>
                <a:cs typeface="Outfit"/>
                <a:sym typeface="Outfit"/>
              </a:rPr>
              <a:t>Pathway enrichment.</a:t>
            </a:r>
            <a:endParaRPr sz="2600" b="1"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6FF3"/>
              </a:buClr>
              <a:buSzPts val="3550"/>
              <a:buFont typeface="Outfit"/>
              <a:buNone/>
            </a:pPr>
            <a:r>
              <a:rPr lang="en-US" sz="2600" b="1">
                <a:latin typeface="Outfit"/>
                <a:ea typeface="Outfit"/>
                <a:cs typeface="Outfit"/>
                <a:sym typeface="Outfit"/>
              </a:rPr>
              <a:t>ORA/GSEA</a:t>
            </a:r>
            <a:endParaRPr sz="6450" b="1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2" name="Google Shape;142;p20" title="network_graph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250" y="697175"/>
            <a:ext cx="4804400" cy="44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 title="barplot_wtkr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0174" y="5547025"/>
            <a:ext cx="4804398" cy="233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 title="barplot_mutkr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850" y="5547025"/>
            <a:ext cx="4804398" cy="233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 title="network_graph_wtRKAS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650" y="697175"/>
            <a:ext cx="4956826" cy="44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10210800" y="1905000"/>
            <a:ext cx="365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В KRAS-мутантных опухолях наблюдается обогащение сигнальных путей, связанных с EMT, ангиогенезом, гипоксией и воспалением через NF-kB. Это указывает на более агрессивный фенотип опухоли - с повышенной инвазивностью, высоким риском метастазирования, ремоделированием микроокружения и способностью адаптироваться к стрессу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2253150" y="212200"/>
            <a:ext cx="101241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Межклеточная коммуникация. Liana</a:t>
            </a:r>
            <a:endParaRPr sz="35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" name="Google Shape;153;p21" title="sender_reciv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37" y="990186"/>
            <a:ext cx="5093855" cy="6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 title="factor_plot.context_box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2529" y="1066800"/>
            <a:ext cx="4522071" cy="27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 title="ccc_networks_all_factor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8800" y="3751876"/>
            <a:ext cx="4876800" cy="371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10896600" y="1295400"/>
            <a:ext cx="3276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Сильные отправители: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Перициты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Фибробласты (apCAF, iCAF, myCAF)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Эндотелиальные клетки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 (макрофаги)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приемники: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Пролиферирующие клетки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 (макрофаги)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Эндотелиальные клетки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Основное взаимодействие происходит между клетками опухолевого микроокружения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Единственным статистически значимым  фактором взаимодействия между клетками является фактор №5, преимущественно отвечающий за ангиогенез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4876800"/>
            <a:ext cx="9448801" cy="29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 title="dotplot__Pathway enrichment analysis in KRASmut and wt CRC cell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999" y="1219200"/>
            <a:ext cx="8610602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2438400" y="381000"/>
            <a:ext cx="9525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Оценка обогащения каждой клетки. Cell2cell</a:t>
            </a:r>
            <a:endParaRPr b="1"/>
          </a:p>
        </p:txBody>
      </p:sp>
      <p:sp>
        <p:nvSpPr>
          <p:cNvPr id="165" name="Google Shape;165;p22"/>
          <p:cNvSpPr txBox="1"/>
          <p:nvPr/>
        </p:nvSpPr>
        <p:spPr>
          <a:xfrm>
            <a:off x="9753600" y="1219200"/>
            <a:ext cx="40386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В клетках KRAS-мутированных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опухолей обогащены сигнальные пути, связанные с активацией факторов роста, а также клеточным циклом, что отражает усиление пролиферации.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то же время в опухолях с диким типом KRAS преобладают пути, связанные с TGF-beta сигналингом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/>
        </p:nvSpPr>
        <p:spPr>
          <a:xfrm>
            <a:off x="1981200" y="381000"/>
            <a:ext cx="10427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Определение клеток-мишеней. Drug2cell</a:t>
            </a:r>
            <a:endParaRPr sz="32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2" name="Google Shape;172;p23" title="dotplot__ingKRAS_dotplo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1295400"/>
            <a:ext cx="4966977" cy="2215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 title="dotplot__immunotherapy_dotplo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099" y="1295400"/>
            <a:ext cx="5316902" cy="2215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 title="dotplot__anti_VEGF_dotplot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3600" y="3652284"/>
            <a:ext cx="5132219" cy="2215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 title="dotplot__anti_EGFR_dotplot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21341" y="3652284"/>
            <a:ext cx="5151660" cy="22151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1295400" y="3657600"/>
            <a:ext cx="123444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Drug2cell показал высокую потенциальную эффективность анти-VEGF и anti-EGFR моноклональных антител в группе wtKRAS клеток колоректального рака, что соотносится с действующими стандартами терапии. Иммунотерапия продемонстрировала отсутствие значимого эффекта в обеих группах, также как и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Соторасиб(ингибитора KRAS(G12C), вероятно, данная мутация не представлена в исследуемых данных.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/>
        </p:nvSpPr>
        <p:spPr>
          <a:xfrm>
            <a:off x="5562600" y="609600"/>
            <a:ext cx="281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latin typeface="Outfit"/>
                <a:ea typeface="Outfit"/>
                <a:cs typeface="Outfit"/>
                <a:sym typeface="Outfit"/>
              </a:rPr>
              <a:t>Заключение</a:t>
            </a:r>
            <a:endParaRPr sz="3500" b="1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990600" y="1524000"/>
            <a:ext cx="121158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В целом, результаты анализа соответствуют литературным данным: KRAS-мутантные клетки колоректального рака характеризуются формированием более агрессивного фенотипа, что проявляется активацией процессов эпителиально-мезенхимального перехода (EMT), ангиогенеза и воспалительных сигнальных путей. </a:t>
            </a:r>
            <a:endParaRPr sz="15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Полученные данные свидетельствуют о выраженном ремоделировании опухолевого микроокружения с увеличением вклада стромальных, сосудистых и иммунных клеток и усилением межклеточных взаимодействий.</a:t>
            </a:r>
            <a:endParaRPr sz="15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В совокупности это определяет их повышенную инвазивность, высокий метастатический потенциал и худший ответ на терапию, и соответственно, ухудшение прогноза для пациентов.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Произвольный</PresentationFormat>
  <Paragraphs>69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Average</vt:lpstr>
      <vt:lpstr>Times New Roman</vt:lpstr>
      <vt:lpstr>IBM Plex Sans</vt:lpstr>
      <vt:lpstr>Calibri</vt:lpstr>
      <vt:lpstr>Outfit</vt:lpstr>
      <vt:lpstr>Arial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Olga Magamedova</cp:lastModifiedBy>
  <cp:revision>1</cp:revision>
  <dcterms:modified xsi:type="dcterms:W3CDTF">2026-05-09T18:27:44Z</dcterms:modified>
</cp:coreProperties>
</file>